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64" r:id="rId4"/>
    <p:sldId id="265" r:id="rId6"/>
    <p:sldId id="267" r:id="rId7"/>
    <p:sldId id="274" r:id="rId8"/>
    <p:sldId id="275" r:id="rId9"/>
    <p:sldId id="276" r:id="rId10"/>
    <p:sldId id="277" r:id="rId11"/>
    <p:sldId id="278" r:id="rId12"/>
    <p:sldId id="27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679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3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4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5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1A1A1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US" sz="1000" b="0" i="0" u="none" strike="noStrike">
                <a:solidFill>
                  <a:srgbClr val="1A1A1A"/>
                </a:solidFill>
                <a:latin typeface="Arial" panose="020B0604020202020204"/>
              </a:rPr>
              <a:t>WAF Blocks by Attack Category</a:t>
            </a:r>
            <a:endParaRPr lang="en-US" sz="1000" b="0" i="0" u="none" strike="noStrike">
              <a:solidFill>
                <a:srgbClr val="1A1A1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Blocks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4"/>
            <c:invertIfNegative val="0"/>
            <c:bubble3D val="0"/>
          </c:dPt>
          <c:dPt>
            <c:idx val="5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800" b="0" i="0" u="none" strike="noStrike" kern="1200" baseline="0">
                    <a:solidFill>
                      <a:srgbClr val="1A1A1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RCE</c:v>
                </c:pt>
                <c:pt idx="1">
                  <c:v>Directory Traversal</c:v>
                </c:pt>
                <c:pt idx="2">
                  <c:v>Scanner</c:v>
                </c:pt>
                <c:pt idx="3">
                  <c:v>CSRF</c:v>
                </c:pt>
                <c:pt idx="4">
                  <c:v>XSS</c:v>
                </c:pt>
                <c:pt idx="5">
                  <c:v>SQLi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72</c:v>
                </c:pt>
                <c:pt idx="2">
                  <c:v>88</c:v>
                </c:pt>
                <c:pt idx="3">
                  <c:v>95</c:v>
                </c:pt>
                <c:pt idx="4">
                  <c:v>210</c:v>
                </c:pt>
                <c:pt idx="5">
                  <c:v>340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800" b="0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800" b="0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67cc4483-2020-4031-baf7-75d2c5e1bc3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1A1A1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US" sz="1000" b="0" i="0" u="none" strike="noStrike">
                <a:solidFill>
                  <a:srgbClr val="1A1A1A"/>
                </a:solidFill>
                <a:latin typeface="Arial" panose="020B0604020202020204"/>
              </a:rPr>
              <a:t>Request Rate vs Block Rate (Weekly)</a:t>
            </a:r>
            <a:endParaRPr lang="en-US" sz="1000" b="0" i="0" u="none" strike="noStrike">
              <a:solidFill>
                <a:srgbClr val="1A1A1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Requests/min (k)</c:v>
                </c:pt>
              </c:strCache>
            </c:strRef>
          </c:tx>
          <c:spPr>
            <a:ln w="25400" cap="flat" cmpd="sng" algn="ctr">
              <a:solidFill>
                <a:srgbClr val="FFCC0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CC08"/>
              </a:solidFill>
              <a:ln w="9525" cap="flat" cmpd="sng" algn="ctr">
                <a:solidFill>
                  <a:srgbClr val="FFCC08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W31</c:v>
                </c:pt>
                <c:pt idx="1">
                  <c:v>W32</c:v>
                </c:pt>
                <c:pt idx="2">
                  <c:v>W33</c:v>
                </c:pt>
                <c:pt idx="3">
                  <c:v>W34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</c:v>
                </c:pt>
                <c:pt idx="1">
                  <c:v>510</c:v>
                </c:pt>
                <c:pt idx="2">
                  <c:v>480</c:v>
                </c:pt>
                <c:pt idx="3">
                  <c:v>560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Blocks/min</c:v>
                </c:pt>
              </c:strCache>
            </c:strRef>
          </c:tx>
          <c:spPr>
            <a:ln w="25400" cap="flat" cmpd="sng" algn="ctr">
              <a:solidFill>
                <a:srgbClr val="DC26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C2626"/>
              </a:solidFill>
              <a:ln w="9525" cap="flat" cmpd="sng" algn="ctr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W31</c:v>
                </c:pt>
                <c:pt idx="1">
                  <c:v>W32</c:v>
                </c:pt>
                <c:pt idx="2">
                  <c:v>W33</c:v>
                </c:pt>
                <c:pt idx="3">
                  <c:v>W34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</c:v>
                </c:pt>
                <c:pt idx="1">
                  <c:v>42</c:v>
                </c:pt>
                <c:pt idx="2">
                  <c:v>31</c:v>
                </c:pt>
                <c:pt idx="3">
                  <c:v>38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800" b="0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800" b="0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en-GB" sz="7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1"/>
    <c:extLst>
      <c:ext uri="{0b15fc19-7d7d-44ad-8c2d-2c3a37ce22c3}">
        <chartProps xmlns="https://web.wps.cn/et/2018/main" chartId="{f1289b55-b423-40ec-9e92-3865e2157048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1A1A1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US" sz="1000" b="0" i="0" u="none" strike="noStrike">
                <a:solidFill>
                  <a:srgbClr val="1A1A1A"/>
                </a:solidFill>
                <a:latin typeface="Arial" panose="020B0604020202020204"/>
              </a:rPr>
              <a:t>Pool Member Status</a:t>
            </a:r>
            <a:endParaRPr lang="en-US" sz="1000" b="0" i="0" u="none" strike="noStrike">
              <a:solidFill>
                <a:srgbClr val="1A1A1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Pool Health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8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8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8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Healthy</c:v>
                </c:pt>
                <c:pt idx="1">
                  <c:v>Degraded</c:v>
                </c:pt>
                <c:pt idx="2">
                  <c:v>Offline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</c:v>
                </c:pt>
                <c:pt idx="1">
                  <c:v>7</c:v>
                </c:pt>
                <c:pt idx="2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solidFill>
          <a:srgbClr val="FFFFFF"/>
        </a:solidFill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en-GB" sz="7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1"/>
    <c:extLst>
      <c:ext uri="{0b15fc19-7d7d-44ad-8c2d-2c3a37ce22c3}">
        <chartProps xmlns="https://web.wps.cn/et/2018/main" chartId="{d9a040ee-a0e4-454a-bc68-27d9188c12b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1A1A1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US" sz="1000" b="0" i="0" u="none" strike="noStrike">
                <a:solidFill>
                  <a:srgbClr val="1A1A1A"/>
                </a:solidFill>
                <a:latin typeface="Arial" panose="020B0604020202020204"/>
              </a:rPr>
              <a:t>WAF False Positive %</a:t>
            </a:r>
            <a:endParaRPr lang="en-US" sz="1000" b="0" i="0" u="none" strike="noStrike">
              <a:solidFill>
                <a:srgbClr val="1A1A1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FP %</c:v>
                </c:pt>
              </c:strCache>
            </c:strRef>
          </c:tx>
          <c:spPr>
            <a:solidFill>
              <a:srgbClr val="FFCC08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700" b="0" i="0" u="none" strike="noStrike" kern="1200" baseline="0">
                    <a:solidFill>
                      <a:srgbClr val="1A1A1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W31</c:v>
                </c:pt>
                <c:pt idx="1">
                  <c:v>W32</c:v>
                </c:pt>
                <c:pt idx="2">
                  <c:v>W33</c:v>
                </c:pt>
                <c:pt idx="3">
                  <c:v>W34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</c:v>
                </c:pt>
                <c:pt idx="1">
                  <c:v>2.1</c:v>
                </c:pt>
                <c:pt idx="2">
                  <c:v>0.3</c:v>
                </c:pt>
                <c:pt idx="3">
                  <c:v>1.5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700" b="0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700" b="0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55031a94-a0ba-4a89-9f1a-4ff8fd0de18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1A1A1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US" sz="1000" b="0" i="0" u="none" strike="noStrike">
                <a:solidFill>
                  <a:srgbClr val="1A1A1A"/>
                </a:solidFill>
                <a:latin typeface="Arial" panose="020B0604020202020204"/>
              </a:rPr>
              <a:t>WAF Blocks by Attack Category</a:t>
            </a:r>
            <a:endParaRPr lang="en-US" sz="1000" b="0" i="0" u="none" strike="noStrike">
              <a:solidFill>
                <a:srgbClr val="1A1A1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Blocks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4"/>
            <c:invertIfNegative val="0"/>
            <c:bubble3D val="0"/>
          </c:dPt>
          <c:dPt>
            <c:idx val="5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800" b="0" i="0" u="none" strike="noStrike" kern="1200" baseline="0">
                    <a:solidFill>
                      <a:srgbClr val="1A1A1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RCE</c:v>
                </c:pt>
                <c:pt idx="1">
                  <c:v>Directory Traversal</c:v>
                </c:pt>
                <c:pt idx="2">
                  <c:v>Scanner</c:v>
                </c:pt>
                <c:pt idx="3">
                  <c:v>CSRF</c:v>
                </c:pt>
                <c:pt idx="4">
                  <c:v>XSS</c:v>
                </c:pt>
                <c:pt idx="5">
                  <c:v>SQLi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72</c:v>
                </c:pt>
                <c:pt idx="2">
                  <c:v>88</c:v>
                </c:pt>
                <c:pt idx="3">
                  <c:v>95</c:v>
                </c:pt>
                <c:pt idx="4">
                  <c:v>210</c:v>
                </c:pt>
                <c:pt idx="5">
                  <c:v>340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800" b="0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800" b="0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67cc4483-2020-4031-baf7-75d2c5e1bc3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1A1A1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US" sz="1000" b="0" i="0" u="none" strike="noStrike">
                <a:solidFill>
                  <a:srgbClr val="1A1A1A"/>
                </a:solidFill>
                <a:latin typeface="Arial" panose="020B0604020202020204"/>
              </a:rPr>
              <a:t>Request Rate vs Block Rate (Weekly)</a:t>
            </a:r>
            <a:endParaRPr lang="en-US" sz="1000" b="0" i="0" u="none" strike="noStrike">
              <a:solidFill>
                <a:srgbClr val="1A1A1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Requests/min (k)</c:v>
                </c:pt>
              </c:strCache>
            </c:strRef>
          </c:tx>
          <c:spPr>
            <a:ln w="25400" cap="flat" cmpd="sng" algn="ctr">
              <a:solidFill>
                <a:srgbClr val="FFCC0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CC08"/>
              </a:solidFill>
              <a:ln w="9525" cap="flat" cmpd="sng" algn="ctr">
                <a:solidFill>
                  <a:srgbClr val="FFCC08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W31</c:v>
                </c:pt>
                <c:pt idx="1">
                  <c:v>W32</c:v>
                </c:pt>
                <c:pt idx="2">
                  <c:v>W33</c:v>
                </c:pt>
                <c:pt idx="3">
                  <c:v>W34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</c:v>
                </c:pt>
                <c:pt idx="1">
                  <c:v>510</c:v>
                </c:pt>
                <c:pt idx="2">
                  <c:v>480</c:v>
                </c:pt>
                <c:pt idx="3">
                  <c:v>560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Blocks/min</c:v>
                </c:pt>
              </c:strCache>
            </c:strRef>
          </c:tx>
          <c:spPr>
            <a:ln w="25400" cap="flat" cmpd="sng" algn="ctr">
              <a:solidFill>
                <a:srgbClr val="DC26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C2626"/>
              </a:solidFill>
              <a:ln w="9525" cap="flat" cmpd="sng" algn="ctr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W31</c:v>
                </c:pt>
                <c:pt idx="1">
                  <c:v>W32</c:v>
                </c:pt>
                <c:pt idx="2">
                  <c:v>W33</c:v>
                </c:pt>
                <c:pt idx="3">
                  <c:v>W34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</c:v>
                </c:pt>
                <c:pt idx="1">
                  <c:v>42</c:v>
                </c:pt>
                <c:pt idx="2">
                  <c:v>31</c:v>
                </c:pt>
                <c:pt idx="3">
                  <c:v>38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800" b="0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800" b="0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en-GB" sz="7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1"/>
    <c:extLst>
      <c:ext uri="{0b15fc19-7d7d-44ad-8c2d-2c3a37ce22c3}">
        <chartProps xmlns="https://web.wps.cn/et/2018/main" chartId="{f1289b55-b423-40ec-9e92-3865e2157048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1A1A1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US" sz="1000" b="0" i="0" u="none" strike="noStrike">
                <a:solidFill>
                  <a:srgbClr val="1A1A1A"/>
                </a:solidFill>
                <a:latin typeface="Arial" panose="020B0604020202020204"/>
              </a:rPr>
              <a:t>Pool Member Status</a:t>
            </a:r>
            <a:endParaRPr lang="en-US" sz="1000" b="0" i="0" u="none" strike="noStrike">
              <a:solidFill>
                <a:srgbClr val="1A1A1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Pool Health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8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8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8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Healthy</c:v>
                </c:pt>
                <c:pt idx="1">
                  <c:v>Degraded</c:v>
                </c:pt>
                <c:pt idx="2">
                  <c:v>Offline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</c:v>
                </c:pt>
                <c:pt idx="1">
                  <c:v>7</c:v>
                </c:pt>
                <c:pt idx="2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solidFill>
          <a:srgbClr val="FFFFFF"/>
        </a:solidFill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en-GB" sz="7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1"/>
    <c:extLst>
      <c:ext uri="{0b15fc19-7d7d-44ad-8c2d-2c3a37ce22c3}">
        <chartProps xmlns="https://web.wps.cn/et/2018/main" chartId="{d9a040ee-a0e4-454a-bc68-27d9188c12b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1A1A1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US" sz="1000" b="0" i="0" u="none" strike="noStrike">
                <a:solidFill>
                  <a:srgbClr val="1A1A1A"/>
                </a:solidFill>
                <a:latin typeface="Arial" panose="020B0604020202020204"/>
              </a:rPr>
              <a:t>WAF False Positive %</a:t>
            </a:r>
            <a:endParaRPr lang="en-US" sz="1000" b="0" i="0" u="none" strike="noStrike">
              <a:solidFill>
                <a:srgbClr val="1A1A1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FP %</c:v>
                </c:pt>
              </c:strCache>
            </c:strRef>
          </c:tx>
          <c:spPr>
            <a:solidFill>
              <a:srgbClr val="FFCC08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700" b="0" i="0" u="none" strike="noStrike" kern="1200" baseline="0">
                    <a:solidFill>
                      <a:srgbClr val="1A1A1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W31</c:v>
                </c:pt>
                <c:pt idx="1">
                  <c:v>W32</c:v>
                </c:pt>
                <c:pt idx="2">
                  <c:v>W33</c:v>
                </c:pt>
                <c:pt idx="3">
                  <c:v>W34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</c:v>
                </c:pt>
                <c:pt idx="1">
                  <c:v>2.1</c:v>
                </c:pt>
                <c:pt idx="2">
                  <c:v>0.3</c:v>
                </c:pt>
                <c:pt idx="3">
                  <c:v>1.5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700" b="0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700" b="0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55031a94-a0ba-4a89-9f1a-4ff8fd0de18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1A1A1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US" sz="1000" b="0" i="0" u="none" strike="noStrike">
                <a:solidFill>
                  <a:srgbClr val="1A1A1A"/>
                </a:solidFill>
                <a:latin typeface="Arial" panose="020B0604020202020204"/>
              </a:rPr>
              <a:t>WAF Blocks by Attack Category</a:t>
            </a:r>
            <a:endParaRPr lang="en-US" sz="1000" b="0" i="0" u="none" strike="noStrike">
              <a:solidFill>
                <a:srgbClr val="1A1A1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Blocks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4"/>
            <c:invertIfNegative val="0"/>
            <c:bubble3D val="0"/>
          </c:dPt>
          <c:dPt>
            <c:idx val="5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800" b="0" i="0" u="none" strike="noStrike" kern="1200" baseline="0">
                    <a:solidFill>
                      <a:srgbClr val="1A1A1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RCE</c:v>
                </c:pt>
                <c:pt idx="1">
                  <c:v>Directory Traversal</c:v>
                </c:pt>
                <c:pt idx="2">
                  <c:v>Scanner</c:v>
                </c:pt>
                <c:pt idx="3">
                  <c:v>CSRF</c:v>
                </c:pt>
                <c:pt idx="4">
                  <c:v>XSS</c:v>
                </c:pt>
                <c:pt idx="5">
                  <c:v>SQLi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72</c:v>
                </c:pt>
                <c:pt idx="2">
                  <c:v>88</c:v>
                </c:pt>
                <c:pt idx="3">
                  <c:v>95</c:v>
                </c:pt>
                <c:pt idx="4">
                  <c:v>210</c:v>
                </c:pt>
                <c:pt idx="5">
                  <c:v>340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800" b="0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800" b="0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67cc4483-2020-4031-baf7-75d2c5e1bc3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1A1A1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US" sz="1000" b="0" i="0" u="none" strike="noStrike">
                <a:solidFill>
                  <a:srgbClr val="1A1A1A"/>
                </a:solidFill>
                <a:latin typeface="Arial" panose="020B0604020202020204"/>
              </a:rPr>
              <a:t>Request Rate vs Block Rate (Weekly)</a:t>
            </a:r>
            <a:endParaRPr lang="en-US" sz="1000" b="0" i="0" u="none" strike="noStrike">
              <a:solidFill>
                <a:srgbClr val="1A1A1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Requests/min (k)</c:v>
                </c:pt>
              </c:strCache>
            </c:strRef>
          </c:tx>
          <c:spPr>
            <a:ln w="25400" cap="flat" cmpd="sng" algn="ctr">
              <a:solidFill>
                <a:srgbClr val="FFCC0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CC08"/>
              </a:solidFill>
              <a:ln w="9525" cap="flat" cmpd="sng" algn="ctr">
                <a:solidFill>
                  <a:srgbClr val="FFCC08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W31</c:v>
                </c:pt>
                <c:pt idx="1">
                  <c:v>W32</c:v>
                </c:pt>
                <c:pt idx="2">
                  <c:v>W33</c:v>
                </c:pt>
                <c:pt idx="3">
                  <c:v>W34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</c:v>
                </c:pt>
                <c:pt idx="1">
                  <c:v>510</c:v>
                </c:pt>
                <c:pt idx="2">
                  <c:v>480</c:v>
                </c:pt>
                <c:pt idx="3">
                  <c:v>560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Blocks/min</c:v>
                </c:pt>
              </c:strCache>
            </c:strRef>
          </c:tx>
          <c:spPr>
            <a:ln w="25400" cap="flat" cmpd="sng" algn="ctr">
              <a:solidFill>
                <a:srgbClr val="DC26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C2626"/>
              </a:solidFill>
              <a:ln w="9525" cap="flat" cmpd="sng" algn="ctr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W31</c:v>
                </c:pt>
                <c:pt idx="1">
                  <c:v>W32</c:v>
                </c:pt>
                <c:pt idx="2">
                  <c:v>W33</c:v>
                </c:pt>
                <c:pt idx="3">
                  <c:v>W34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</c:v>
                </c:pt>
                <c:pt idx="1">
                  <c:v>42</c:v>
                </c:pt>
                <c:pt idx="2">
                  <c:v>31</c:v>
                </c:pt>
                <c:pt idx="3">
                  <c:v>38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800" b="0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800" b="0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en-GB" sz="7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1"/>
    <c:extLst>
      <c:ext uri="{0b15fc19-7d7d-44ad-8c2d-2c3a37ce22c3}">
        <chartProps xmlns="https://web.wps.cn/et/2018/main" chartId="{f1289b55-b423-40ec-9e92-3865e2157048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1A1A1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US" sz="1000" b="0" i="0" u="none" strike="noStrike">
                <a:solidFill>
                  <a:srgbClr val="1A1A1A"/>
                </a:solidFill>
                <a:latin typeface="Arial" panose="020B0604020202020204"/>
              </a:rPr>
              <a:t>Pool Member Status</a:t>
            </a:r>
            <a:endParaRPr lang="en-US" sz="1000" b="0" i="0" u="none" strike="noStrike">
              <a:solidFill>
                <a:srgbClr val="1A1A1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Pool Health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8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8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8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Healthy</c:v>
                </c:pt>
                <c:pt idx="1">
                  <c:v>Degraded</c:v>
                </c:pt>
                <c:pt idx="2">
                  <c:v>Offline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</c:v>
                </c:pt>
                <c:pt idx="1">
                  <c:v>7</c:v>
                </c:pt>
                <c:pt idx="2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solidFill>
          <a:srgbClr val="FFFFFF"/>
        </a:solidFill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en-GB" sz="7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1"/>
    <c:extLst>
      <c:ext uri="{0b15fc19-7d7d-44ad-8c2d-2c3a37ce22c3}">
        <chartProps xmlns="https://web.wps.cn/et/2018/main" chartId="{d9a040ee-a0e4-454a-bc68-27d9188c12b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1A1A1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US" sz="1000" b="0" i="0" u="none" strike="noStrike">
                <a:solidFill>
                  <a:srgbClr val="1A1A1A"/>
                </a:solidFill>
                <a:latin typeface="Arial" panose="020B0604020202020204"/>
              </a:rPr>
              <a:t>WAF False Positive %</a:t>
            </a:r>
            <a:endParaRPr lang="en-US" sz="1000" b="0" i="0" u="none" strike="noStrike">
              <a:solidFill>
                <a:srgbClr val="1A1A1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FP %</c:v>
                </c:pt>
              </c:strCache>
            </c:strRef>
          </c:tx>
          <c:spPr>
            <a:solidFill>
              <a:srgbClr val="FFCC08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700" b="0" i="0" u="none" strike="noStrike" kern="1200" baseline="0">
                    <a:solidFill>
                      <a:srgbClr val="1A1A1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W31</c:v>
                </c:pt>
                <c:pt idx="1">
                  <c:v>W32</c:v>
                </c:pt>
                <c:pt idx="2">
                  <c:v>W33</c:v>
                </c:pt>
                <c:pt idx="3">
                  <c:v>W34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</c:v>
                </c:pt>
                <c:pt idx="1">
                  <c:v>2.1</c:v>
                </c:pt>
                <c:pt idx="2">
                  <c:v>0.3</c:v>
                </c:pt>
                <c:pt idx="3">
                  <c:v>1.5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700" b="0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700" b="0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55031a94-a0ba-4a89-9f1a-4ff8fd0de18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1A1A1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US" sz="1000" b="0" i="0" u="none" strike="noStrike">
                <a:solidFill>
                  <a:srgbClr val="1A1A1A"/>
                </a:solidFill>
                <a:latin typeface="Arial" panose="020B0604020202020204"/>
              </a:rPr>
              <a:t>WAF Blocks by Attack Category</a:t>
            </a:r>
            <a:endParaRPr lang="en-US" sz="1000" b="0" i="0" u="none" strike="noStrike">
              <a:solidFill>
                <a:srgbClr val="1A1A1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Blocks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Pt>
            <c:idx val="4"/>
            <c:invertIfNegative val="0"/>
            <c:bubble3D val="0"/>
          </c:dPt>
          <c:dPt>
            <c:idx val="5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800" b="0" i="0" u="none" strike="noStrike" kern="1200" baseline="0">
                    <a:solidFill>
                      <a:srgbClr val="1A1A1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RCE</c:v>
                </c:pt>
                <c:pt idx="1">
                  <c:v>Directory Traversal</c:v>
                </c:pt>
                <c:pt idx="2">
                  <c:v>Scanner</c:v>
                </c:pt>
                <c:pt idx="3">
                  <c:v>CSRF</c:v>
                </c:pt>
                <c:pt idx="4">
                  <c:v>XSS</c:v>
                </c:pt>
                <c:pt idx="5">
                  <c:v>SQLi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72</c:v>
                </c:pt>
                <c:pt idx="2">
                  <c:v>88</c:v>
                </c:pt>
                <c:pt idx="3">
                  <c:v>95</c:v>
                </c:pt>
                <c:pt idx="4">
                  <c:v>210</c:v>
                </c:pt>
                <c:pt idx="5">
                  <c:v>340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800" b="0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800" b="0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67cc4483-2020-4031-baf7-75d2c5e1bc3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1A1A1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US" sz="1000" b="0" i="0" u="none" strike="noStrike">
                <a:solidFill>
                  <a:srgbClr val="1A1A1A"/>
                </a:solidFill>
                <a:latin typeface="Arial" panose="020B0604020202020204"/>
              </a:rPr>
              <a:t>Request Rate vs Block Rate (Weekly)</a:t>
            </a:r>
            <a:endParaRPr lang="en-US" sz="1000" b="0" i="0" u="none" strike="noStrike">
              <a:solidFill>
                <a:srgbClr val="1A1A1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Requests/min (k)</c:v>
                </c:pt>
              </c:strCache>
            </c:strRef>
          </c:tx>
          <c:spPr>
            <a:ln w="25400" cap="flat" cmpd="sng" algn="ctr">
              <a:solidFill>
                <a:srgbClr val="FFCC0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CC08"/>
              </a:solidFill>
              <a:ln w="9525" cap="flat" cmpd="sng" algn="ctr">
                <a:solidFill>
                  <a:srgbClr val="FFCC08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W31</c:v>
                </c:pt>
                <c:pt idx="1">
                  <c:v>W32</c:v>
                </c:pt>
                <c:pt idx="2">
                  <c:v>W33</c:v>
                </c:pt>
                <c:pt idx="3">
                  <c:v>W34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</c:v>
                </c:pt>
                <c:pt idx="1">
                  <c:v>510</c:v>
                </c:pt>
                <c:pt idx="2">
                  <c:v>480</c:v>
                </c:pt>
                <c:pt idx="3">
                  <c:v>560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Blocks/min</c:v>
                </c:pt>
              </c:strCache>
            </c:strRef>
          </c:tx>
          <c:spPr>
            <a:ln w="25400" cap="flat" cmpd="sng" algn="ctr">
              <a:solidFill>
                <a:srgbClr val="DC26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C2626"/>
              </a:solidFill>
              <a:ln w="9525" cap="flat" cmpd="sng" algn="ctr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W31</c:v>
                </c:pt>
                <c:pt idx="1">
                  <c:v>W32</c:v>
                </c:pt>
                <c:pt idx="2">
                  <c:v>W33</c:v>
                </c:pt>
                <c:pt idx="3">
                  <c:v>W34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</c:v>
                </c:pt>
                <c:pt idx="1">
                  <c:v>42</c:v>
                </c:pt>
                <c:pt idx="2">
                  <c:v>31</c:v>
                </c:pt>
                <c:pt idx="3">
                  <c:v>38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800" b="0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800" b="0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en-GB" sz="7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1"/>
    <c:extLst>
      <c:ext uri="{0b15fc19-7d7d-44ad-8c2d-2c3a37ce22c3}">
        <chartProps xmlns="https://web.wps.cn/et/2018/main" chartId="{f1289b55-b423-40ec-9e92-3865e2157048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1A1A1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US" sz="1000" b="0" i="0" u="none" strike="noStrike">
                <a:solidFill>
                  <a:srgbClr val="1A1A1A"/>
                </a:solidFill>
                <a:latin typeface="Arial" panose="020B0604020202020204"/>
              </a:rPr>
              <a:t>Pool Member Status</a:t>
            </a:r>
            <a:endParaRPr lang="en-US" sz="1000" b="0" i="0" u="none" strike="noStrike">
              <a:solidFill>
                <a:srgbClr val="1A1A1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Pool Health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8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8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GB" sz="8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Healthy</c:v>
                </c:pt>
                <c:pt idx="1">
                  <c:v>Degraded</c:v>
                </c:pt>
                <c:pt idx="2">
                  <c:v>Offline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</c:v>
                </c:pt>
                <c:pt idx="1">
                  <c:v>7</c:v>
                </c:pt>
                <c:pt idx="2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solidFill>
          <a:srgbClr val="FFFFFF"/>
        </a:solidFill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en-GB" sz="7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1"/>
    <c:extLst>
      <c:ext uri="{0b15fc19-7d7d-44ad-8c2d-2c3a37ce22c3}">
        <chartProps xmlns="https://web.wps.cn/et/2018/main" chartId="{d9a040ee-a0e4-454a-bc68-27d9188c12b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000" b="0" i="0" u="none" strike="noStrike" kern="1200" baseline="0">
                <a:solidFill>
                  <a:srgbClr val="1A1A1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en-US" sz="1000" b="0" i="0" u="none" strike="noStrike">
                <a:solidFill>
                  <a:srgbClr val="1A1A1A"/>
                </a:solidFill>
                <a:latin typeface="Arial" panose="020B0604020202020204"/>
              </a:rPr>
              <a:t>WAF False Positive %</a:t>
            </a:r>
            <a:endParaRPr lang="en-US" sz="1000" b="0" i="0" u="none" strike="noStrike">
              <a:solidFill>
                <a:srgbClr val="1A1A1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FP %</c:v>
                </c:pt>
              </c:strCache>
            </c:strRef>
          </c:tx>
          <c:spPr>
            <a:solidFill>
              <a:srgbClr val="FFCC08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700" b="0" i="0" u="none" strike="noStrike" kern="1200" baseline="0">
                    <a:solidFill>
                      <a:srgbClr val="1A1A1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W31</c:v>
                </c:pt>
                <c:pt idx="1">
                  <c:v>W32</c:v>
                </c:pt>
                <c:pt idx="2">
                  <c:v>W33</c:v>
                </c:pt>
                <c:pt idx="3">
                  <c:v>W34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</c:v>
                </c:pt>
                <c:pt idx="1">
                  <c:v>2.1</c:v>
                </c:pt>
                <c:pt idx="2">
                  <c:v>0.3</c:v>
                </c:pt>
                <c:pt idx="3">
                  <c:v>1.5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700" b="0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700" b="0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55031a94-a0ba-4a89-9f1a-4ff8fd0de18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3500" y="4927600"/>
            <a:ext cx="9906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Sensitivity: Public</a:t>
            </a:r>
            <a:endParaRPr lang="en-US" sz="1000">
              <a:solidFill>
                <a:srgbClr val="000000">
                  <a:alpha val="50000"/>
                </a:srgbClr>
              </a:solidFill>
              <a:latin typeface="Aptos" panose="020B00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3500" y="4927600"/>
            <a:ext cx="9906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Sensitivity: Public</a:t>
            </a:r>
            <a:endParaRPr lang="en-US" sz="1000">
              <a:solidFill>
                <a:srgbClr val="000000">
                  <a:alpha val="50000"/>
                </a:srgbClr>
              </a:solidFill>
              <a:latin typeface="Aptos" panose="020B00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4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8.xml"/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12.xml"/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16.xml"/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chart" Target="../charts/char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FFCC08"/>
          </a:solidFill>
          <a:ln w="12700">
            <a:solidFill>
              <a:srgbClr val="FFCC08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200400" y="0"/>
            <a:ext cx="64008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219456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SECTION</a:t>
            </a:r>
            <a:endParaRPr lang="en-US" sz="800" dirty="0">
              <a:latin typeface="MTN Brighter Sa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65760" y="2423160"/>
            <a:ext cx="2560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1A1A">
                    <a:alpha val="80000"/>
                  </a:srgbClr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5200" dirty="0">
              <a:latin typeface="MTN Brighter Sans" panose="000005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520440" y="1463040"/>
            <a:ext cx="53035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F5 BIG-IP</a:t>
            </a:r>
            <a:endParaRPr lang="en-US" sz="2800" dirty="0">
              <a:latin typeface="MTN Brighter Sans" panose="00000500000000000000" pitchFamily="2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Metrics</a:t>
            </a:r>
            <a:endParaRPr lang="en-US" sz="2800" dirty="0">
              <a:latin typeface="MTN Brighter Sans" panose="000005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520440" y="2606040"/>
            <a:ext cx="53035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CC08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WAF · Load Balancer · Application Delivery  |  Vendor: F5 Networks</a:t>
            </a:r>
            <a:endParaRPr lang="en-US" sz="1200" dirty="0">
              <a:latin typeface="MTN Brighter Sans" panose="000005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520440" y="374904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C08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Key Capabilities Monitored</a:t>
            </a:r>
            <a:endParaRPr lang="en-US" sz="900" dirty="0">
              <a:latin typeface="MTN Brighter Sans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11880" y="4041648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Web Application Firewall (WAF)</a:t>
            </a:r>
            <a:endParaRPr lang="en-US" sz="850" dirty="0">
              <a:latin typeface="MTN Brighter Sans" panose="000005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611880" y="4297680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Virtual Server &amp; Pool Health</a:t>
            </a:r>
            <a:endParaRPr lang="en-US" sz="850" dirty="0">
              <a:latin typeface="MTN Brighter Sans" panose="000005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611880" y="4553712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SSL/TLS Offload Performance</a:t>
            </a:r>
            <a:endParaRPr lang="en-US" sz="850" dirty="0">
              <a:latin typeface="MTN Brighter Sans" panose="000005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611880" y="4809744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iRule Execution &amp; Traffic Steering</a:t>
            </a:r>
            <a:endParaRPr lang="en-US" sz="850" dirty="0">
              <a:latin typeface="MTN Brighter Sans" panose="000005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0292"/>
          </a:xfrm>
          <a:prstGeom prst="rect">
            <a:avLst/>
          </a:prstGeom>
          <a:solidFill>
            <a:srgbClr val="FFCC08"/>
          </a:solidFill>
          <a:ln w="12700">
            <a:solidFill>
              <a:srgbClr val="FFCC08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55448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28016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F5 BIG-IP — IKY WAF &amp; Application Delivery Metrics</a:t>
            </a:r>
            <a:endParaRPr lang="en-US" sz="2000" dirty="0">
              <a:latin typeface="MTN Brighter Sa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60120" y="566928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CC08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Attack category breakdown · False positive rate · Pool availability · Request throughput</a:t>
            </a:r>
            <a:endParaRPr lang="en-US" sz="900" dirty="0">
              <a:latin typeface="MTN Brighter Sans" panose="00000500000000000000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65760" y="1005840"/>
            <a:ext cx="19385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65760" y="1005840"/>
            <a:ext cx="1938528" cy="50292"/>
          </a:xfrm>
          <a:prstGeom prst="rect">
            <a:avLst/>
          </a:prstGeom>
          <a:solidFill>
            <a:srgbClr val="FFCC08"/>
          </a:solidFill>
          <a:ln w="12700">
            <a:solidFill>
              <a:srgbClr val="FFCC08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1078992"/>
            <a:ext cx="19385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##.##%</a:t>
            </a:r>
            <a:endParaRPr lang="en-US" sz="2600" dirty="0">
              <a:latin typeface="MTN Brighter Sans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1536192"/>
            <a:ext cx="193852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F5 HA Uptime</a:t>
            </a:r>
            <a:endParaRPr lang="en-US" sz="900" dirty="0">
              <a:latin typeface="MTN Brighter Sans" panose="00000500000000000000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487168" y="1005840"/>
            <a:ext cx="19385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487168" y="1005840"/>
            <a:ext cx="1938528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487168" y="1078992"/>
            <a:ext cx="19385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##M</a:t>
            </a:r>
            <a:endParaRPr lang="en-US" sz="2600" dirty="0">
              <a:latin typeface="MTN Brighter Sans" panose="000005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487168" y="1536192"/>
            <a:ext cx="193852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Requests Inspected</a:t>
            </a:r>
            <a:endParaRPr lang="en-US" sz="900" dirty="0">
              <a:latin typeface="MTN Brighter Sans" panose="00000500000000000000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608576" y="1005840"/>
            <a:ext cx="19385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608576" y="1005840"/>
            <a:ext cx="1938528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608576" y="1078992"/>
            <a:ext cx="19385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##,###</a:t>
            </a:r>
            <a:endParaRPr lang="en-US" sz="2600" dirty="0">
              <a:latin typeface="MTN Brighter Sans" panose="000005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608576" y="1536192"/>
            <a:ext cx="193852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WAF Blocks</a:t>
            </a:r>
            <a:endParaRPr lang="en-US" sz="900" dirty="0">
              <a:latin typeface="MTN Brighter Sans" panose="00000500000000000000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729984" y="1005840"/>
            <a:ext cx="19385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729984" y="1005840"/>
            <a:ext cx="1938528" cy="502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729984" y="1078992"/>
            <a:ext cx="19385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##.##%</a:t>
            </a:r>
            <a:endParaRPr lang="en-US" sz="2600" dirty="0">
              <a:latin typeface="MTN Brighter Sans" panose="000005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729984" y="1536192"/>
            <a:ext cx="193852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Pool Member Avail.</a:t>
            </a:r>
            <a:endParaRPr lang="en-US" sz="900" dirty="0">
              <a:latin typeface="MTN Brighter Sans" panose="00000500000000000000" pitchFamily="2" charset="0"/>
            </a:endParaRPr>
          </a:p>
        </p:txBody>
      </p:sp>
      <p:graphicFrame>
        <p:nvGraphicFramePr>
          <p:cNvPr id="23" name="Chart 0"/>
          <p:cNvGraphicFramePr/>
          <p:nvPr/>
        </p:nvGraphicFramePr>
        <p:xfrm>
          <a:off x="365760" y="210312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4" name="Chart 1"/>
          <p:cNvGraphicFramePr/>
          <p:nvPr/>
        </p:nvGraphicFramePr>
        <p:xfrm>
          <a:off x="4663440" y="2103120"/>
          <a:ext cx="411480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5" name="Chart 2"/>
          <p:cNvGraphicFramePr/>
          <p:nvPr/>
        </p:nvGraphicFramePr>
        <p:xfrm>
          <a:off x="4663440" y="3383280"/>
          <a:ext cx="201168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6" name="Chart 3"/>
          <p:cNvGraphicFramePr/>
          <p:nvPr/>
        </p:nvGraphicFramePr>
        <p:xfrm>
          <a:off x="6766560" y="3383280"/>
          <a:ext cx="210312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Shape 2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MTN Network Security  |  F5 BIG-IP — WAF &amp; LB  |  [Month Year]  |  CONFIDENTIAL</a:t>
            </a:r>
            <a:endParaRPr lang="en-US" sz="700" dirty="0">
              <a:latin typeface="MTN Brighter Sans" panose="000005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0292"/>
          </a:xfrm>
          <a:prstGeom prst="rect">
            <a:avLst/>
          </a:prstGeom>
          <a:solidFill>
            <a:srgbClr val="FFCC08"/>
          </a:solidFill>
          <a:ln w="12700">
            <a:solidFill>
              <a:srgbClr val="FFCC08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5448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28016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F5 BIG-IP — IKY EXECUTIVE SUMMARY</a:t>
            </a:r>
            <a:endParaRPr lang="en-US" sz="2000" dirty="0">
              <a:latin typeface="MTN Brighter Sa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60120" y="566928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CC08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Attack category breakdown · False positive rate · Pool availability · Request throughput</a:t>
            </a:r>
            <a:endParaRPr lang="en-US" sz="900" dirty="0">
              <a:latin typeface="MTN Brighter Sans" panose="00000500000000000000" pitchFamily="2" charset="0"/>
            </a:endParaRPr>
          </a:p>
        </p:txBody>
      </p:sp>
      <p:sp>
        <p:nvSpPr>
          <p:cNvPr id="27" name="Shape 2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MTN Network Security  |  F5 BIG-IP — WAF &amp; LB  |  [Month Year]  |  CONFIDENTIAL</a:t>
            </a:r>
            <a:endParaRPr lang="en-US" sz="700" dirty="0">
              <a:latin typeface="MTN Brighter Sans" panose="000005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0292"/>
          </a:xfrm>
          <a:prstGeom prst="rect">
            <a:avLst/>
          </a:prstGeom>
          <a:solidFill>
            <a:srgbClr val="FFCC08"/>
          </a:solidFill>
          <a:ln w="12700">
            <a:solidFill>
              <a:srgbClr val="FFCC08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55448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28016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F5 BIG-IP — VGC WAF &amp; Application Delivery Metrics</a:t>
            </a:r>
            <a:endParaRPr lang="en-US" sz="2000" dirty="0">
              <a:latin typeface="MTN Brighter Sa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60120" y="566928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CC08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Attack category breakdown · False positive rate · Pool availability · Request throughput</a:t>
            </a:r>
            <a:endParaRPr lang="en-US" sz="900" dirty="0">
              <a:latin typeface="MTN Brighter Sans" panose="00000500000000000000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65760" y="1005840"/>
            <a:ext cx="19385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65760" y="1005840"/>
            <a:ext cx="1938528" cy="50292"/>
          </a:xfrm>
          <a:prstGeom prst="rect">
            <a:avLst/>
          </a:prstGeom>
          <a:solidFill>
            <a:srgbClr val="FFCC08"/>
          </a:solidFill>
          <a:ln w="12700">
            <a:solidFill>
              <a:srgbClr val="FFCC08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1078992"/>
            <a:ext cx="19385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##.##%</a:t>
            </a:r>
            <a:endParaRPr lang="en-US" sz="2600" dirty="0">
              <a:latin typeface="MTN Brighter Sans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1536192"/>
            <a:ext cx="193852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F5 HA Uptime</a:t>
            </a:r>
            <a:endParaRPr lang="en-US" sz="900" dirty="0">
              <a:latin typeface="MTN Brighter Sans" panose="00000500000000000000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487168" y="1005840"/>
            <a:ext cx="19385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487168" y="1005840"/>
            <a:ext cx="1938528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487168" y="1078992"/>
            <a:ext cx="19385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##M</a:t>
            </a:r>
            <a:endParaRPr lang="en-US" sz="2600" dirty="0">
              <a:latin typeface="MTN Brighter Sans" panose="000005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487168" y="1536192"/>
            <a:ext cx="193852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Requests Inspected</a:t>
            </a:r>
            <a:endParaRPr lang="en-US" sz="900" dirty="0">
              <a:latin typeface="MTN Brighter Sans" panose="00000500000000000000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608576" y="1005840"/>
            <a:ext cx="19385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608576" y="1005840"/>
            <a:ext cx="1938528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608576" y="1078992"/>
            <a:ext cx="19385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##,###</a:t>
            </a:r>
            <a:endParaRPr lang="en-US" sz="2600" dirty="0">
              <a:latin typeface="MTN Brighter Sans" panose="000005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608576" y="1536192"/>
            <a:ext cx="193852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WAF Blocks</a:t>
            </a:r>
            <a:endParaRPr lang="en-US" sz="900" dirty="0">
              <a:latin typeface="MTN Brighter Sans" panose="00000500000000000000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729984" y="1005840"/>
            <a:ext cx="19385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729984" y="1005840"/>
            <a:ext cx="1938528" cy="502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729984" y="1078992"/>
            <a:ext cx="19385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##.##%</a:t>
            </a:r>
            <a:endParaRPr lang="en-US" sz="2600" dirty="0">
              <a:latin typeface="MTN Brighter Sans" panose="000005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729984" y="1536192"/>
            <a:ext cx="193852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Pool Member Avail.</a:t>
            </a:r>
            <a:endParaRPr lang="en-US" sz="900" dirty="0">
              <a:latin typeface="MTN Brighter Sans" panose="00000500000000000000" pitchFamily="2" charset="0"/>
            </a:endParaRPr>
          </a:p>
        </p:txBody>
      </p:sp>
      <p:graphicFrame>
        <p:nvGraphicFramePr>
          <p:cNvPr id="23" name="Chart 0"/>
          <p:cNvGraphicFramePr/>
          <p:nvPr/>
        </p:nvGraphicFramePr>
        <p:xfrm>
          <a:off x="365760" y="210312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4" name="Chart 1"/>
          <p:cNvGraphicFramePr/>
          <p:nvPr/>
        </p:nvGraphicFramePr>
        <p:xfrm>
          <a:off x="4663440" y="2103120"/>
          <a:ext cx="411480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5" name="Chart 2"/>
          <p:cNvGraphicFramePr/>
          <p:nvPr/>
        </p:nvGraphicFramePr>
        <p:xfrm>
          <a:off x="4663440" y="3383280"/>
          <a:ext cx="201168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6" name="Chart 3"/>
          <p:cNvGraphicFramePr/>
          <p:nvPr/>
        </p:nvGraphicFramePr>
        <p:xfrm>
          <a:off x="6766560" y="3383280"/>
          <a:ext cx="210312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Shape 2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MTN Network Security  |  F5 BIG-IP — WAF &amp; LB  |  [Month Year]  |  CONFIDENTIAL</a:t>
            </a:r>
            <a:endParaRPr lang="en-US" sz="700" dirty="0">
              <a:latin typeface="MTN Brighter Sans" panose="000005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0292"/>
          </a:xfrm>
          <a:prstGeom prst="rect">
            <a:avLst/>
          </a:prstGeom>
          <a:solidFill>
            <a:srgbClr val="FFCC08"/>
          </a:solidFill>
          <a:ln w="12700">
            <a:solidFill>
              <a:srgbClr val="FFCC08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5448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28016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F5 BIG-IP — VGC EXECUTIVE SUMMARY</a:t>
            </a:r>
            <a:endParaRPr lang="en-US" sz="2000" dirty="0">
              <a:latin typeface="MTN Brighter Sa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60120" y="566928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CC08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Attack category breakdown · False positive rate · Pool availability · Request throughput</a:t>
            </a:r>
            <a:endParaRPr lang="en-US" sz="900" dirty="0">
              <a:latin typeface="MTN Brighter Sans" panose="00000500000000000000" pitchFamily="2" charset="0"/>
            </a:endParaRPr>
          </a:p>
        </p:txBody>
      </p:sp>
      <p:sp>
        <p:nvSpPr>
          <p:cNvPr id="27" name="Shape 2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MTN Network Security  |  F5 BIG-IP — WAF &amp; LB  |  [Month Year]  |  CONFIDENTIAL</a:t>
            </a:r>
            <a:endParaRPr lang="en-US" sz="700" dirty="0">
              <a:latin typeface="MTN Brighter Sans" panose="00000500000000000000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0292"/>
          </a:xfrm>
          <a:prstGeom prst="rect">
            <a:avLst/>
          </a:prstGeom>
          <a:solidFill>
            <a:srgbClr val="FFCC08"/>
          </a:solidFill>
          <a:ln w="12700">
            <a:solidFill>
              <a:srgbClr val="FFCC08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55448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28016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F5 BIG-IP — OJT WAF &amp; Application Delivery Metrics</a:t>
            </a:r>
            <a:endParaRPr lang="en-US" sz="2000" dirty="0">
              <a:latin typeface="MTN Brighter Sa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60120" y="566928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CC08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Attack category breakdown · False positive rate · Pool availability · Request throughput</a:t>
            </a:r>
            <a:endParaRPr lang="en-US" sz="900" dirty="0">
              <a:latin typeface="MTN Brighter Sans" panose="00000500000000000000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65760" y="1005840"/>
            <a:ext cx="19385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65760" y="1005840"/>
            <a:ext cx="1938528" cy="50292"/>
          </a:xfrm>
          <a:prstGeom prst="rect">
            <a:avLst/>
          </a:prstGeom>
          <a:solidFill>
            <a:srgbClr val="FFCC08"/>
          </a:solidFill>
          <a:ln w="12700">
            <a:solidFill>
              <a:srgbClr val="FFCC08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1078992"/>
            <a:ext cx="19385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##.##%</a:t>
            </a:r>
            <a:endParaRPr lang="en-US" sz="2600" dirty="0">
              <a:latin typeface="MTN Brighter Sans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1536192"/>
            <a:ext cx="193852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F5 HA Uptime</a:t>
            </a:r>
            <a:endParaRPr lang="en-US" sz="900" dirty="0">
              <a:latin typeface="MTN Brighter Sans" panose="00000500000000000000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487168" y="1005840"/>
            <a:ext cx="19385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487168" y="1005840"/>
            <a:ext cx="1938528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487168" y="1078992"/>
            <a:ext cx="19385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##M</a:t>
            </a:r>
            <a:endParaRPr lang="en-US" sz="2600" dirty="0">
              <a:latin typeface="MTN Brighter Sans" panose="000005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487168" y="1536192"/>
            <a:ext cx="193852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Requests Inspected</a:t>
            </a:r>
            <a:endParaRPr lang="en-US" sz="900" dirty="0">
              <a:latin typeface="MTN Brighter Sans" panose="00000500000000000000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608576" y="1005840"/>
            <a:ext cx="19385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608576" y="1005840"/>
            <a:ext cx="1938528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608576" y="1078992"/>
            <a:ext cx="19385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##,###</a:t>
            </a:r>
            <a:endParaRPr lang="en-US" sz="2600" dirty="0">
              <a:latin typeface="MTN Brighter Sans" panose="000005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608576" y="1536192"/>
            <a:ext cx="193852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WAF Blocks</a:t>
            </a:r>
            <a:endParaRPr lang="en-US" sz="900" dirty="0">
              <a:latin typeface="MTN Brighter Sans" panose="00000500000000000000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729984" y="1005840"/>
            <a:ext cx="19385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729984" y="1005840"/>
            <a:ext cx="1938528" cy="502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729984" y="1078992"/>
            <a:ext cx="19385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##.##%</a:t>
            </a:r>
            <a:endParaRPr lang="en-US" sz="2600" dirty="0">
              <a:latin typeface="MTN Brighter Sans" panose="000005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729984" y="1536192"/>
            <a:ext cx="193852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Pool Member Avail.</a:t>
            </a:r>
            <a:endParaRPr lang="en-US" sz="900" dirty="0">
              <a:latin typeface="MTN Brighter Sans" panose="00000500000000000000" pitchFamily="2" charset="0"/>
            </a:endParaRPr>
          </a:p>
        </p:txBody>
      </p:sp>
      <p:graphicFrame>
        <p:nvGraphicFramePr>
          <p:cNvPr id="23" name="Chart 0"/>
          <p:cNvGraphicFramePr/>
          <p:nvPr/>
        </p:nvGraphicFramePr>
        <p:xfrm>
          <a:off x="365760" y="210312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4" name="Chart 1"/>
          <p:cNvGraphicFramePr/>
          <p:nvPr/>
        </p:nvGraphicFramePr>
        <p:xfrm>
          <a:off x="4663440" y="2103120"/>
          <a:ext cx="411480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5" name="Chart 2"/>
          <p:cNvGraphicFramePr/>
          <p:nvPr/>
        </p:nvGraphicFramePr>
        <p:xfrm>
          <a:off x="4663440" y="3383280"/>
          <a:ext cx="201168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6" name="Chart 3"/>
          <p:cNvGraphicFramePr/>
          <p:nvPr/>
        </p:nvGraphicFramePr>
        <p:xfrm>
          <a:off x="6766560" y="3383280"/>
          <a:ext cx="210312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Shape 2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MTN Network Security  |  F5 BIG-IP — WAF &amp; LB  |  [Month Year]  |  CONFIDENTIAL</a:t>
            </a:r>
            <a:endParaRPr lang="en-US" sz="700" dirty="0">
              <a:latin typeface="MTN Brighter Sans" panose="000005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0292"/>
          </a:xfrm>
          <a:prstGeom prst="rect">
            <a:avLst/>
          </a:prstGeom>
          <a:solidFill>
            <a:srgbClr val="FFCC08"/>
          </a:solidFill>
          <a:ln w="12700">
            <a:solidFill>
              <a:srgbClr val="FFCC08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5448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28016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F5 BIG-IP — OJT EXECUTIVE SUMMARY</a:t>
            </a:r>
            <a:endParaRPr lang="en-US" sz="2000" dirty="0">
              <a:latin typeface="MTN Brighter Sa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60120" y="566928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CC08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Attack category breakdown · False positive rate · Pool availability · Request throughput</a:t>
            </a:r>
            <a:endParaRPr lang="en-US" sz="900" dirty="0">
              <a:latin typeface="MTN Brighter Sans" panose="00000500000000000000" pitchFamily="2" charset="0"/>
            </a:endParaRPr>
          </a:p>
        </p:txBody>
      </p:sp>
      <p:sp>
        <p:nvSpPr>
          <p:cNvPr id="27" name="Shape 2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MTN Network Security  |  F5 BIG-IP — WAF &amp; LB  |  [Month Year]  |  CONFIDENTIAL</a:t>
            </a:r>
            <a:endParaRPr lang="en-US" sz="700" dirty="0">
              <a:latin typeface="MTN Brighter Sans" panose="000005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0292"/>
          </a:xfrm>
          <a:prstGeom prst="rect">
            <a:avLst/>
          </a:prstGeom>
          <a:solidFill>
            <a:srgbClr val="FFCC08"/>
          </a:solidFill>
          <a:ln w="12700">
            <a:solidFill>
              <a:srgbClr val="FFCC08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55448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28016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F5 BIG-IP — TOTAL WAF &amp; Application Delivery Metrics</a:t>
            </a:r>
            <a:endParaRPr lang="en-US" sz="2000" dirty="0">
              <a:latin typeface="MTN Brighter Sa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60120" y="566928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CC08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Attack category breakdown · False positive rate · Pool availability · Request throughput</a:t>
            </a:r>
            <a:endParaRPr lang="en-US" sz="900" dirty="0">
              <a:latin typeface="MTN Brighter Sans" panose="00000500000000000000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65760" y="1005840"/>
            <a:ext cx="19385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65760" y="1005840"/>
            <a:ext cx="1938528" cy="50292"/>
          </a:xfrm>
          <a:prstGeom prst="rect">
            <a:avLst/>
          </a:prstGeom>
          <a:solidFill>
            <a:srgbClr val="FFCC08"/>
          </a:solidFill>
          <a:ln w="12700">
            <a:solidFill>
              <a:srgbClr val="FFCC08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1078992"/>
            <a:ext cx="19385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##.##%</a:t>
            </a:r>
            <a:endParaRPr lang="en-US" sz="2600" dirty="0">
              <a:latin typeface="MTN Brighter Sans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1536192"/>
            <a:ext cx="193852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F5 HA Uptime</a:t>
            </a:r>
            <a:endParaRPr lang="en-US" sz="900" dirty="0">
              <a:latin typeface="MTN Brighter Sans" panose="00000500000000000000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487168" y="1005840"/>
            <a:ext cx="19385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487168" y="1005840"/>
            <a:ext cx="1938528" cy="502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487168" y="1078992"/>
            <a:ext cx="19385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##M</a:t>
            </a:r>
            <a:endParaRPr lang="en-US" sz="2600" dirty="0">
              <a:latin typeface="MTN Brighter Sans" panose="000005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487168" y="1536192"/>
            <a:ext cx="193852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Requests Inspected</a:t>
            </a:r>
            <a:endParaRPr lang="en-US" sz="900" dirty="0">
              <a:latin typeface="MTN Brighter Sans" panose="00000500000000000000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608576" y="1005840"/>
            <a:ext cx="19385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608576" y="1005840"/>
            <a:ext cx="1938528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608576" y="1078992"/>
            <a:ext cx="19385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##,###</a:t>
            </a:r>
            <a:endParaRPr lang="en-US" sz="2600" dirty="0">
              <a:latin typeface="MTN Brighter Sans" panose="000005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608576" y="1536192"/>
            <a:ext cx="193852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WAF Blocks</a:t>
            </a:r>
            <a:endParaRPr lang="en-US" sz="900" dirty="0">
              <a:latin typeface="MTN Brighter Sans" panose="00000500000000000000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729984" y="1005840"/>
            <a:ext cx="19385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729984" y="1005840"/>
            <a:ext cx="1938528" cy="502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729984" y="1078992"/>
            <a:ext cx="19385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##.##%</a:t>
            </a:r>
            <a:endParaRPr lang="en-US" sz="2600" dirty="0">
              <a:latin typeface="MTN Brighter Sans" panose="000005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729984" y="1536192"/>
            <a:ext cx="193852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Pool Member Avail.</a:t>
            </a:r>
            <a:endParaRPr lang="en-US" sz="900" dirty="0">
              <a:latin typeface="MTN Brighter Sans" panose="00000500000000000000" pitchFamily="2" charset="0"/>
            </a:endParaRPr>
          </a:p>
        </p:txBody>
      </p:sp>
      <p:graphicFrame>
        <p:nvGraphicFramePr>
          <p:cNvPr id="23" name="Chart 0"/>
          <p:cNvGraphicFramePr/>
          <p:nvPr/>
        </p:nvGraphicFramePr>
        <p:xfrm>
          <a:off x="365760" y="210312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4" name="Chart 1"/>
          <p:cNvGraphicFramePr/>
          <p:nvPr/>
        </p:nvGraphicFramePr>
        <p:xfrm>
          <a:off x="4663440" y="2103120"/>
          <a:ext cx="411480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5" name="Chart 2"/>
          <p:cNvGraphicFramePr/>
          <p:nvPr/>
        </p:nvGraphicFramePr>
        <p:xfrm>
          <a:off x="4663440" y="3383280"/>
          <a:ext cx="201168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6" name="Chart 3"/>
          <p:cNvGraphicFramePr/>
          <p:nvPr/>
        </p:nvGraphicFramePr>
        <p:xfrm>
          <a:off x="6766560" y="3383280"/>
          <a:ext cx="210312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Shape 2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MTN Network Security  |  F5 BIG-IP — WAF &amp; LB  |  [Month Year]  |  CONFIDENTIAL</a:t>
            </a:r>
            <a:endParaRPr lang="en-US" sz="700" dirty="0">
              <a:latin typeface="MTN Brighter Sans" panose="00000500000000000000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0292"/>
          </a:xfrm>
          <a:prstGeom prst="rect">
            <a:avLst/>
          </a:prstGeom>
          <a:solidFill>
            <a:srgbClr val="FFCC08"/>
          </a:solidFill>
          <a:ln w="12700">
            <a:solidFill>
              <a:srgbClr val="FFCC08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5448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28016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F5 BIG-IP —  EXECUTIVE SUMMARY</a:t>
            </a:r>
            <a:endParaRPr lang="en-US" sz="2000" dirty="0">
              <a:latin typeface="MTN Brighter Sa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60120" y="566928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CC08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Attack category breakdown · False positive rate · Pool availability · Request throughput</a:t>
            </a:r>
            <a:endParaRPr lang="en-US" sz="900" dirty="0">
              <a:latin typeface="MTN Brighter Sans" panose="00000500000000000000" pitchFamily="2" charset="0"/>
            </a:endParaRPr>
          </a:p>
        </p:txBody>
      </p:sp>
      <p:sp>
        <p:nvSpPr>
          <p:cNvPr id="27" name="Shape 2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>
              <a:latin typeface="MTN Brighter Sans" panose="00000500000000000000" pitchFamily="2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MTN Brighter Sans" panose="00000500000000000000" pitchFamily="2" charset="0"/>
                <a:ea typeface="Calibri" panose="020F0502020204030204" pitchFamily="34" charset="-122"/>
                <a:cs typeface="Calibri" panose="020F0502020204030204" pitchFamily="34" charset="-120"/>
              </a:rPr>
              <a:t>MTN Network Security  |  F5 BIG-IP — WAF &amp; LB  |  [Month Year]  |  CONFIDENTIAL</a:t>
            </a:r>
            <a:endParaRPr lang="en-US" sz="700" dirty="0">
              <a:latin typeface="MTN Brighter Sans" panose="000005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2223</Words>
  <Application>WPS Presentation</Application>
  <PresentationFormat>On-screen Show (16:9)</PresentationFormat>
  <Paragraphs>131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SimSun</vt:lpstr>
      <vt:lpstr>Wingdings</vt:lpstr>
      <vt:lpstr>Aptos</vt:lpstr>
      <vt:lpstr>Segoe UI</vt:lpstr>
      <vt:lpstr>MTN Brighter Sans</vt:lpstr>
      <vt:lpstr>Segoe Print</vt:lpstr>
      <vt:lpstr>Calibri</vt:lpstr>
      <vt:lpstr>Calibri</vt:lpstr>
      <vt:lpstr>Arial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MTN Network Security Metrics Report</dc:title>
  <dc:creator>PptxGenJS</dc:creator>
  <dc:subject>PptxGenJS Presentation</dc:subject>
  <cp:lastModifiedBy>Hp</cp:lastModifiedBy>
  <cp:revision>6</cp:revision>
  <dcterms:created xsi:type="dcterms:W3CDTF">2026-05-23T10:21:00Z</dcterms:created>
  <dcterms:modified xsi:type="dcterms:W3CDTF">2026-08-16T20:54:13Z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4310d7d-6047-4ff9-b5ce-71e5a0ff4d2b_Enabled">
    <vt:lpwstr>true</vt:lpwstr>
  </property>
  <property fmtid="{D5CDD505-2E9C-101B-9397-08002B2CF9AE}" pid="3" name="MSIP_Label_b4310d7d-6047-4ff9-b5ce-71e5a0ff4d2b_SetDate">
    <vt:lpwstr>2026-05-23T14:17:05Z</vt:lpwstr>
  </property>
  <property fmtid="{D5CDD505-2E9C-101B-9397-08002B2CF9AE}" pid="4" name="MSIP_Label_b4310d7d-6047-4ff9-b5ce-71e5a0ff4d2b_Method">
    <vt:lpwstr>Privileged</vt:lpwstr>
  </property>
  <property fmtid="{D5CDD505-2E9C-101B-9397-08002B2CF9AE}" pid="5" name="MSIP_Label_b4310d7d-6047-4ff9-b5ce-71e5a0ff4d2b_Name">
    <vt:lpwstr>b4310d7d-6047-4ff9-b5ce-71e5a0ff4d2b</vt:lpwstr>
  </property>
  <property fmtid="{D5CDD505-2E9C-101B-9397-08002B2CF9AE}" pid="6" name="MSIP_Label_b4310d7d-6047-4ff9-b5ce-71e5a0ff4d2b_SiteId">
    <vt:lpwstr>c9b9cb50-3644-4db4-a267-fa84df2f4ceb</vt:lpwstr>
  </property>
  <property fmtid="{D5CDD505-2E9C-101B-9397-08002B2CF9AE}" pid="7" name="MSIP_Label_b4310d7d-6047-4ff9-b5ce-71e5a0ff4d2b_ActionId">
    <vt:lpwstr>ea16d67a-560e-459f-a9f0-d2a61d130af7</vt:lpwstr>
  </property>
  <property fmtid="{D5CDD505-2E9C-101B-9397-08002B2CF9AE}" pid="8" name="MSIP_Label_b4310d7d-6047-4ff9-b5ce-71e5a0ff4d2b_ContentBits">
    <vt:lpwstr>2</vt:lpwstr>
  </property>
  <property fmtid="{D5CDD505-2E9C-101B-9397-08002B2CF9AE}" pid="9" name="MSIP_Label_b4310d7d-6047-4ff9-b5ce-71e5a0ff4d2b_Tag">
    <vt:lpwstr>10, 0, 1, 1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Sensitivity: Public</vt:lpwstr>
  </property>
  <property fmtid="{D5CDD505-2E9C-101B-9397-08002B2CF9AE}" pid="12" name="ICV">
    <vt:lpwstr>7DC42C28FC254418A4474E44D8B36F0E_12</vt:lpwstr>
  </property>
  <property fmtid="{D5CDD505-2E9C-101B-9397-08002B2CF9AE}" pid="13" name="KSOProductBuildVer">
    <vt:lpwstr>2057-12.2.0.23206</vt:lpwstr>
  </property>
</Properties>
</file>